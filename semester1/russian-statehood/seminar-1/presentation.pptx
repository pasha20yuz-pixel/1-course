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jpeg" ContentType="image/jpeg"/>
  <Override PartName="/ppt/media/image2.png" ContentType="image/png"/>
  <Override PartName="/ppt/media/image3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Для перемещения страницы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898FF6-B45A-450A-9D08-973A409A34B8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59F0C-8975-4F84-9672-E04A0BF8A2EE}" type="slidenum">
              <a:rPr b="0" lang="ru-RU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F29ED4-EFE2-4E75-B64C-A81D4696C0B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5A6C81-6D21-4ECF-A33D-08B9DC36F93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C2DE10-76DC-40AF-B7B7-A08BD952DE4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C22B1-C4BF-46D3-AA44-E87084FD7FF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9B492F-00CD-4510-BD0A-8B1873F73CB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4BB1A7-0285-400A-B3CF-D84BB14E598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77A07-43DB-4392-BABC-1E1C71F6384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765706-CDA4-4391-BA5A-A1381CE1632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219681-4600-4DCC-9052-548DC8B9F52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ECD2C-EB24-4291-8160-5F2125755EF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63C660-C5AE-42A2-B7C2-FF5C2F78616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5"/>
          <p:cNvSpPr/>
          <p:nvPr/>
        </p:nvSpPr>
        <p:spPr>
          <a:xfrm>
            <a:off x="3692520" y="1119600"/>
            <a:ext cx="8013240" cy="25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ru-RU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T Sans"/>
              </a:rPr>
              <a:t>Основы Российской государственности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400920" y="6072480"/>
            <a:ext cx="56509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T Sans"/>
              </a:rPr>
              <a:t>Березовская Ирина Петровна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T Sans"/>
              </a:rPr>
              <a:t>Санкт-Петербург, 2023 </a:t>
            </a: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2020 г.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Рисунок 17" descr=""/>
          <p:cNvPicPr/>
          <p:nvPr/>
        </p:nvPicPr>
        <p:blipFill>
          <a:blip r:embed="rId2"/>
          <a:stretch/>
        </p:blipFill>
        <p:spPr>
          <a:xfrm>
            <a:off x="6386760" y="2387520"/>
            <a:ext cx="5805000" cy="39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Прямоугольник 1"/>
          <p:cNvSpPr/>
          <p:nvPr/>
        </p:nvSpPr>
        <p:spPr>
          <a:xfrm>
            <a:off x="3639960" y="3056040"/>
            <a:ext cx="274644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PT Sans"/>
              </a:rPr>
              <a:t>ПРАКТИЧЕСКОЕ ЗАНЯТИЕ 1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PT Sans"/>
              </a:rPr>
              <a:t>СОВРЕМЕННАЯ РОССИЯ: ПРИРОДНЫЕ РЕСУРСЫ И НАЦИОНАЛЬНОЕ БОГАТСТВО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Рисунок 22" descr=""/>
          <p:cNvPicPr/>
          <p:nvPr/>
        </p:nvPicPr>
        <p:blipFill>
          <a:blip r:embed="rId1"/>
          <a:srcRect l="42246" t="34257" r="42239" b="0"/>
          <a:stretch/>
        </p:blipFill>
        <p:spPr>
          <a:xfrm rot="5400000">
            <a:off x="9537840" y="-1854000"/>
            <a:ext cx="799920" cy="45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Прямоугольник 8"/>
          <p:cNvSpPr/>
          <p:nvPr/>
        </p:nvSpPr>
        <p:spPr>
          <a:xfrm>
            <a:off x="606240" y="144000"/>
            <a:ext cx="8858880" cy="56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Задачи 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Уточнить содержание понятий на конкретных примерах: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«географический фактор»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«природно-климатические зоны»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«регион»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«национальное богатство»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«природные ресурсы»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AB7B0B-3F54-4532-AE21-B9056BCBE06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/13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Рисунок 22" descr=""/>
          <p:cNvPicPr/>
          <p:nvPr/>
        </p:nvPicPr>
        <p:blipFill>
          <a:blip r:embed="rId1"/>
          <a:srcRect l="42246" t="34257" r="42239" b="0"/>
          <a:stretch/>
        </p:blipFill>
        <p:spPr>
          <a:xfrm rot="5400000">
            <a:off x="9537840" y="-1854000"/>
            <a:ext cx="799920" cy="45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799DB-994B-4274-823D-D69E5F48C32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/13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Прямоугольник 1"/>
          <p:cNvSpPr/>
          <p:nvPr/>
        </p:nvSpPr>
        <p:spPr>
          <a:xfrm>
            <a:off x="1541160" y="1633680"/>
            <a:ext cx="760248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Задание №1.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Студенты делятся на  мини-группы по 2-3 человека, выбирают 2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региона, дают им характеристику, а также свою оценку уровня экономического развития и перспектив данного региона, его место и роль в экономическом потенциале России, обосновывая эту оценку 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Рисунок 22" descr=""/>
          <p:cNvPicPr/>
          <p:nvPr/>
        </p:nvPicPr>
        <p:blipFill>
          <a:blip r:embed="rId1"/>
          <a:srcRect l="42246" t="34257" r="42239" b="0"/>
          <a:stretch/>
        </p:blipFill>
        <p:spPr>
          <a:xfrm rot="5400000">
            <a:off x="9537840" y="-1854000"/>
            <a:ext cx="799920" cy="45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Прямоугольник 12"/>
          <p:cNvSpPr/>
          <p:nvPr/>
        </p:nvSpPr>
        <p:spPr>
          <a:xfrm>
            <a:off x="954720" y="1206360"/>
            <a:ext cx="1006056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5AA100-B537-4207-A1D8-4473C6AAEE6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/13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Прямоугольник 1"/>
          <p:cNvSpPr/>
          <p:nvPr/>
        </p:nvSpPr>
        <p:spPr>
          <a:xfrm>
            <a:off x="811800" y="1206360"/>
            <a:ext cx="931824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Сравниваем регионы по следующим показателям: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географическое положение, площадь региона, рельеф, соседние регионы (глобальные и локальные регионы), полезные ископаемые, климат, гидрографию, почвы, растительность, животный мир, состояние и охрана окружающей природной среды.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	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Таблица 4"/>
          <p:cNvGraphicFramePr/>
          <p:nvPr/>
        </p:nvGraphicFramePr>
        <p:xfrm>
          <a:off x="493920" y="2858760"/>
          <a:ext cx="11445480" cy="1892880"/>
        </p:xfrm>
        <a:graphic>
          <a:graphicData uri="http://schemas.openxmlformats.org/drawingml/2006/table">
            <a:tbl>
              <a:tblPr/>
              <a:tblGrid>
                <a:gridCol w="925200"/>
                <a:gridCol w="976680"/>
                <a:gridCol w="872280"/>
                <a:gridCol w="788040"/>
                <a:gridCol w="977400"/>
                <a:gridCol w="1103400"/>
                <a:gridCol w="756720"/>
                <a:gridCol w="672480"/>
                <a:gridCol w="662040"/>
                <a:gridCol w="810000"/>
                <a:gridCol w="1087560"/>
                <a:gridCol w="1811880"/>
              </a:tblGrid>
              <a:tr h="126180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Название региона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Географическое положение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Площадь региона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Рельеф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Соседние регионы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Полезные ископаемые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Климат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Гидрография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Почва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Растительность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Животный мир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Состояние окружающей среды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153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153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ru-RU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PT Sans"/>
                        </a:rPr>
                        <a:t> 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0" name="Rectangle 2"/>
          <p:cNvSpPr/>
          <p:nvPr/>
        </p:nvSpPr>
        <p:spPr>
          <a:xfrm>
            <a:off x="147960" y="3303360"/>
            <a:ext cx="141753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Рисунок 22" descr=""/>
          <p:cNvPicPr/>
          <p:nvPr/>
        </p:nvPicPr>
        <p:blipFill>
          <a:blip r:embed="rId1"/>
          <a:srcRect l="42246" t="34257" r="42239" b="0"/>
          <a:stretch/>
        </p:blipFill>
        <p:spPr>
          <a:xfrm rot="5400000">
            <a:off x="9537840" y="-1854000"/>
            <a:ext cx="799920" cy="45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B9E271-7981-44B3-AB79-BD3671013AD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/13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Прямоугольник 1"/>
          <p:cNvSpPr/>
          <p:nvPr/>
        </p:nvSpPr>
        <p:spPr>
          <a:xfrm>
            <a:off x="1171080" y="800280"/>
            <a:ext cx="6798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Задание 2. Ответьте на вопросы: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Прямоугольник 2"/>
          <p:cNvSpPr/>
          <p:nvPr/>
        </p:nvSpPr>
        <p:spPr>
          <a:xfrm>
            <a:off x="1304640" y="1600200"/>
            <a:ext cx="8485920" cy="43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1.Эта природная зона распространяется на территорию Черноморского побережья Кавказа и южного берега Крымского полуострова. Для неё характерно жаркое лето (+22…+24 °С), Зима тёплая. Благоприятно сказывается влияние моря, способствующее охлаждению прибрежных территорий летом и смягчая погоду на них зимой. Исключительно важную роль играют горы — естественная преграда на пути северных ветров. Богатая и разнообразная растительность. 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1" lang="ru-RU" sz="1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Что эта за зона?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2. Совокупность ресурсов страны (экономических активов), составляющих необходимые условия производства товаров, оказания услуг и обеспечения жизни людей. Оно состоит из экономических объектов, существенным признаком которых является возможность получения их собственниками экономической выгоды.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О каком понятии идет речь?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Рисунок 22" descr=""/>
          <p:cNvPicPr/>
          <p:nvPr/>
        </p:nvPicPr>
        <p:blipFill>
          <a:blip r:embed="rId1"/>
          <a:srcRect l="42246" t="34257" r="42239" b="0"/>
          <a:stretch/>
        </p:blipFill>
        <p:spPr>
          <a:xfrm rot="5400000">
            <a:off x="9537840" y="-1854000"/>
            <a:ext cx="799920" cy="45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EDF86-A6D8-4AE5-92A0-153DB50DC9E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&lt;номер&gt;</a:t>
            </a:fld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/13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Прямоугольник 1"/>
          <p:cNvSpPr/>
          <p:nvPr/>
        </p:nvSpPr>
        <p:spPr>
          <a:xfrm>
            <a:off x="544680" y="1263600"/>
            <a:ext cx="10920960" cy="53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3.Возникновение этих гор — результат столкновения литосферных плит и образования единого горного массива в эпоху Альпийской складчатости, примерно 28–23 млн лет назад. Прежде на этом месте было море, соединявший Чёрное и Каспийское моря.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Какие горы имеются ввиду?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4. Этот регион находится на самом юге умеренного пояса России, однако климатические условия на западе и востоке сильно отличаются друг от друга. Постоянно дующие западные ветры приносят обильные осадки на черноморское побережье, создавая там высокую влажность. Побережье Каспийского моря из-за гор, ставших препятствием на пути осадков, напротив, одно из самых сухих мест в стране. Горы препятствуют проникновению воздушных масс с юга на север и в обратном направлении. На территории района погоду формируют влажные воздушные массы с Атлантики или Средиземноморья, вторгаются сухие и холодные с Арктики, а также сухие и запылённые с пустынь Азии.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Климат какого российского региона охарактеризован?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5. </a:t>
            </a: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Какой российский император 24 апреля 1803 года подписал рескрипт «О признании государственного значения Кавказских Минеральных Вод и необходимости их устройства»?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Эту дату считают началом формирования Кавказских Минеральных Вод как российского курорта.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литех">
      <a:majorFont>
        <a:latin typeface="PT Sans" pitchFamily="0" charset="1"/>
        <a:ea typeface=""/>
        <a:cs typeface=""/>
      </a:majorFont>
      <a:minorFont>
        <a:latin typeface="PT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</TotalTime>
  <Application>LibreOffice/25.2.5.2$Windows_X86_64 LibreOffice_project/03d19516eb2e1dd5d4ccd751a0d6f35f35e08022</Application>
  <AppVersion>15.0000</AppVersion>
  <Words>519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2020-05-12T14:57:46Z</dcterms:created>
  <dc:creator>Абентум Мария</dc:creator>
  <dc:description/>
  <dc:language>ru-RU</dc:language>
  <cp:lastModifiedBy>User</cp:lastModifiedBy>
  <dcterms:modified xsi:type="dcterms:W3CDTF">2023-09-23T06:43:32Z</dcterms:modified>
  <cp:revision>70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6</vt:i4>
  </property>
</Properties>
</file>